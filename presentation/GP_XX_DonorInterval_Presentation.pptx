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5486400" cy="32004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100" b="1">
                <a:solidFill>
                  <a:srgbClr val="4EE1B0"/>
                </a:solidFill>
                <a:latin typeface="Aptos"/>
              </a:defRPr>
            </a:pPr>
            <a:r>
              <a:t>DONORINTERVAL  /  EC8204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301752"/>
            <a:ext cx="2834640" cy="32004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r">
              <a:defRPr sz="1000" b="1">
                <a:solidFill>
                  <a:srgbClr val="AAC3CD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6437376"/>
            <a:ext cx="10972800" cy="10972"/>
          </a:xfrm>
          <a:prstGeom prst="rect">
            <a:avLst/>
          </a:prstGeom>
          <a:solidFill>
            <a:srgbClr val="1A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6400800" cy="20116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900" b="0">
                <a:solidFill>
                  <a:srgbClr val="AAC3CD"/>
                </a:solidFill>
                <a:latin typeface="Aptos"/>
              </a:defRPr>
            </a:pPr>
            <a:r>
              <a:t>GROUP [XX]   •   EDUCATIONAL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92240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r">
              <a:defRPr sz="900" b="0">
                <a:solidFill>
                  <a:srgbClr val="AAC3CD"/>
                </a:solidFill>
                <a:latin typeface="Aptos"/>
              </a:defRPr>
            </a:pPr>
            <a:r>
              <a:t>01 /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8686800" cy="160020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3600" b="1">
                <a:solidFill>
                  <a:srgbClr val="EFF9FA"/>
                </a:solidFill>
                <a:latin typeface="Aptos"/>
              </a:defRPr>
            </a:pPr>
            <a:r>
              <a:t>One shared timeline.</a:t>
            </a:r>
            <a:br/>
            <a:r>
              <a:t>Safer donation scheduling.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172968"/>
            <a:ext cx="8686800" cy="438912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2100" b="1">
                <a:solidFill>
                  <a:srgbClr val="4EE1B0"/>
                </a:solidFill>
                <a:latin typeface="Aptos"/>
              </a:defRPr>
            </a:pPr>
            <a:r>
              <a:t>Blockchain-Based Blood Donation Interval Registry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730752"/>
            <a:ext cx="8503920" cy="82296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900" b="0">
                <a:solidFill>
                  <a:srgbClr val="AAC3CD"/>
                </a:solidFill>
                <a:latin typeface="Aptos"/>
              </a:defRPr>
            </a:pPr>
            <a:r>
              <a:t>Participating blood banks need to see recent recorded donations before adding a new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19472"/>
            <a:ext cx="10725912" cy="868680"/>
          </a:xfrm>
          <a:prstGeom prst="roundRect">
            <a:avLst/>
          </a:prstGeom>
          <a:solidFill>
            <a:srgbClr val="12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84648"/>
            <a:ext cx="10149840" cy="36576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700" b="1">
                <a:solidFill>
                  <a:srgbClr val="EFF9FA"/>
                </a:solidFill>
                <a:latin typeface="Aptos"/>
              </a:defRPr>
            </a:pPr>
            <a:r>
              <a:t>Group [XX]  •  [Member 1]  •  [Member 2]  •  [Member 3]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5486400" cy="32004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100" b="1">
                <a:solidFill>
                  <a:srgbClr val="4EE1B0"/>
                </a:solidFill>
                <a:latin typeface="Aptos"/>
              </a:defRPr>
            </a:pPr>
            <a:r>
              <a:t>DONORINTERVAL  /  EC8204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301752"/>
            <a:ext cx="2834640" cy="32004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r">
              <a:defRPr sz="1000" b="1">
                <a:solidFill>
                  <a:srgbClr val="AAC3CD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6437376"/>
            <a:ext cx="10972800" cy="10972"/>
          </a:xfrm>
          <a:prstGeom prst="rect">
            <a:avLst/>
          </a:prstGeom>
          <a:solidFill>
            <a:srgbClr val="1A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6400800" cy="20116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900" b="0">
                <a:solidFill>
                  <a:srgbClr val="AAC3CD"/>
                </a:solidFill>
                <a:latin typeface="Aptos"/>
              </a:defRPr>
            </a:pPr>
            <a:r>
              <a:t>GROUP [XX]   •   EDUCATIONAL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92240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r">
              <a:defRPr sz="900" b="0">
                <a:solidFill>
                  <a:srgbClr val="AAC3CD"/>
                </a:solidFill>
                <a:latin typeface="Aptos"/>
              </a:defRPr>
            </a:pPr>
            <a:r>
              <a:t>02 /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789920" cy="59436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2600" b="1">
                <a:solidFill>
                  <a:srgbClr val="EFF9FA"/>
                </a:solidFill>
                <a:latin typeface="Aptos"/>
              </a:defRPr>
            </a:pPr>
            <a:r>
              <a:t>Authorized banks write. Anyone with the code can check.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83664"/>
            <a:ext cx="3474720" cy="2057400"/>
          </a:xfrm>
          <a:prstGeom prst="roundRect">
            <a:avLst/>
          </a:prstGeom>
          <a:solidFill>
            <a:srgbClr val="12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185416"/>
            <a:ext cx="2971800" cy="36576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600" b="1">
                <a:solidFill>
                  <a:srgbClr val="4EE1B0"/>
                </a:solidFill>
                <a:latin typeface="Aptos"/>
              </a:defRPr>
            </a:pPr>
            <a:r>
              <a:t>BANK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79192"/>
            <a:ext cx="2926080" cy="100584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800" b="0">
                <a:solidFill>
                  <a:srgbClr val="EFF9FA"/>
                </a:solidFill>
                <a:latin typeface="Aptos"/>
              </a:defRPr>
            </a:pPr>
            <a:r>
              <a:t>Records a donation using a fictional donor code hash.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883664"/>
            <a:ext cx="3474720" cy="2057400"/>
          </a:xfrm>
          <a:prstGeom prst="roundRect">
            <a:avLst/>
          </a:prstGeom>
          <a:solidFill>
            <a:srgbClr val="12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4024" y="2185416"/>
            <a:ext cx="2971800" cy="36576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600" b="1">
                <a:solidFill>
                  <a:srgbClr val="4EE1B0"/>
                </a:solidFill>
                <a:latin typeface="Aptos"/>
              </a:defRPr>
            </a:pPr>
            <a:r>
              <a:t>SMART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4" y="2679192"/>
            <a:ext cx="2926080" cy="100584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800" b="0">
                <a:solidFill>
                  <a:srgbClr val="EFF9FA"/>
                </a:solidFill>
                <a:latin typeface="Aptos"/>
              </a:defRPr>
            </a:pPr>
            <a:r>
              <a:t>Checks the interval, stores a timestamp, emits an audit event.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0183" y="1883664"/>
            <a:ext cx="3474720" cy="2057400"/>
          </a:xfrm>
          <a:prstGeom prst="roundRect">
            <a:avLst/>
          </a:prstGeom>
          <a:solidFill>
            <a:srgbClr val="12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86215" y="2185416"/>
            <a:ext cx="2971800" cy="36576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600" b="1">
                <a:solidFill>
                  <a:srgbClr val="4EE1B0"/>
                </a:solidFill>
                <a:latin typeface="Aptos"/>
              </a:defRPr>
            </a:pPr>
            <a:r>
              <a:t>BANK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6215" y="2679192"/>
            <a:ext cx="2926080" cy="100584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800" b="0">
                <a:solidFill>
                  <a:srgbClr val="EFF9FA"/>
                </a:solidFill>
                <a:latin typeface="Aptos"/>
              </a:defRPr>
            </a:pPr>
            <a:r>
              <a:t>Reads the same history and cannot record an early second donation.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232" y="2560320"/>
            <a:ext cx="320040" cy="45720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3000" b="1">
                <a:solidFill>
                  <a:srgbClr val="4EE1B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560320"/>
            <a:ext cx="320040" cy="45720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3000" b="1">
                <a:solidFill>
                  <a:srgbClr val="4EE1B0"/>
                </a:solidFill>
                <a:latin typeface="Aptos"/>
              </a:defRPr>
            </a:pPr>
            <a:r>
              <a:t>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434840"/>
            <a:ext cx="11109960" cy="1024128"/>
          </a:xfrm>
          <a:prstGeom prst="roundRect">
            <a:avLst/>
          </a:prstGeom>
          <a:solidFill>
            <a:srgbClr val="1A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718304"/>
            <a:ext cx="10515600" cy="45720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800" b="1">
                <a:solidFill>
                  <a:srgbClr val="EFF9FA"/>
                </a:solidFill>
                <a:latin typeface="Aptos"/>
              </a:defRPr>
            </a:pPr>
            <a:r>
              <a:t>OFF-CHAIN: real identity, blood group, screening, and the donor-code mapping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5486400" cy="32004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100" b="1">
                <a:solidFill>
                  <a:srgbClr val="4EE1B0"/>
                </a:solidFill>
                <a:latin typeface="Aptos"/>
              </a:defRPr>
            </a:pPr>
            <a:r>
              <a:t>DONORINTERVAL  /  EC8204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301752"/>
            <a:ext cx="2834640" cy="32004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r">
              <a:defRPr sz="1000" b="1">
                <a:solidFill>
                  <a:srgbClr val="AAC3CD"/>
                </a:solidFill>
                <a:latin typeface="Aptos"/>
              </a:defRPr>
            </a:pPr>
            <a:r>
              <a:t>LIVE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6437376"/>
            <a:ext cx="10972800" cy="10972"/>
          </a:xfrm>
          <a:prstGeom prst="rect">
            <a:avLst/>
          </a:prstGeom>
          <a:solidFill>
            <a:srgbClr val="1A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6400800" cy="20116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900" b="0">
                <a:solidFill>
                  <a:srgbClr val="AAC3CD"/>
                </a:solidFill>
                <a:latin typeface="Aptos"/>
              </a:defRPr>
            </a:pPr>
            <a:r>
              <a:t>GROUP [XX]   •   EDUCATIONAL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92240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r">
              <a:defRPr sz="900" b="0">
                <a:solidFill>
                  <a:srgbClr val="AAC3CD"/>
                </a:solidFill>
                <a:latin typeface="Aptos"/>
              </a:defRPr>
            </a:pPr>
            <a:r>
              <a:t>03 /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59536"/>
            <a:ext cx="10881360" cy="59436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2700" b="1">
                <a:solidFill>
                  <a:srgbClr val="EFF9FA"/>
                </a:solidFill>
                <a:latin typeface="Aptos"/>
              </a:defRPr>
            </a:pPr>
            <a:r>
              <a:t>One code. Two banks. A rejected early record.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46504"/>
            <a:ext cx="4663440" cy="777240"/>
          </a:xfrm>
          <a:prstGeom prst="roundRect">
            <a:avLst/>
          </a:prstGeom>
          <a:solidFill>
            <a:srgbClr val="12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65376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500" b="1">
                <a:solidFill>
                  <a:srgbClr val="4EE1B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2184" y="1828800"/>
            <a:ext cx="3611880" cy="301752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700" b="1">
                <a:solidFill>
                  <a:srgbClr val="EFF9FA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139696"/>
            <a:ext cx="3703320" cy="29260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100" b="0">
                <a:solidFill>
                  <a:srgbClr val="AAC3CD"/>
                </a:solidFill>
                <a:latin typeface="Aptos"/>
              </a:defRPr>
            </a:pPr>
            <a:r>
              <a:t>Use a random fictional donor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97480"/>
            <a:ext cx="4663440" cy="777240"/>
          </a:xfrm>
          <a:prstGeom prst="roundRect">
            <a:avLst/>
          </a:prstGeom>
          <a:solidFill>
            <a:srgbClr val="12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2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500" b="1">
                <a:solidFill>
                  <a:srgbClr val="4EE1B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2779776"/>
            <a:ext cx="3611880" cy="301752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700" b="1">
                <a:solidFill>
                  <a:srgbClr val="EFF9FA"/>
                </a:solidFill>
                <a:latin typeface="Aptos"/>
              </a:defRPr>
            </a:pPr>
            <a:r>
              <a:t>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090672"/>
            <a:ext cx="3703320" cy="29260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100" b="0">
                <a:solidFill>
                  <a:srgbClr val="AAC3CD"/>
                </a:solidFill>
                <a:latin typeface="Aptos"/>
              </a:defRPr>
            </a:pPr>
            <a:r>
              <a:t>Bank A writes the first timestamp.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48456"/>
            <a:ext cx="4663440" cy="777240"/>
          </a:xfrm>
          <a:prstGeom prst="roundRect">
            <a:avLst/>
          </a:prstGeom>
          <a:solidFill>
            <a:srgbClr val="12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67328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500" b="1">
                <a:solidFill>
                  <a:srgbClr val="4EE1B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2184" y="3730752"/>
            <a:ext cx="3611880" cy="301752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700" b="1">
                <a:solidFill>
                  <a:srgbClr val="EFF9FA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041648"/>
            <a:ext cx="3703320" cy="29260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100" b="0">
                <a:solidFill>
                  <a:srgbClr val="AAC3CD"/>
                </a:solidFill>
                <a:latin typeface="Aptos"/>
              </a:defRPr>
            </a:pPr>
            <a:r>
              <a:t>Bank B sees the shared history.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599432"/>
            <a:ext cx="4663440" cy="777240"/>
          </a:xfrm>
          <a:prstGeom prst="roundRect">
            <a:avLst/>
          </a:prstGeom>
          <a:solidFill>
            <a:srgbClr val="12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18304"/>
            <a:ext cx="457200" cy="27432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500" b="1">
                <a:solidFill>
                  <a:srgbClr val="4EE1B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72184" y="4681728"/>
            <a:ext cx="3611880" cy="301752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700" b="1">
                <a:solidFill>
                  <a:srgbClr val="EFF9FA"/>
                </a:solidFill>
                <a:latin typeface="Aptos"/>
              </a:defRPr>
            </a:pPr>
            <a:r>
              <a:t>Reject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992624"/>
            <a:ext cx="3703320" cy="29260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100" b="0">
                <a:solidFill>
                  <a:srgbClr val="AAC3CD"/>
                </a:solidFill>
                <a:latin typeface="Aptos"/>
              </a:defRPr>
            </a:pPr>
            <a:r>
              <a:t>The contract blocks another record too soon.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23560" y="1746504"/>
            <a:ext cx="5888736" cy="3840480"/>
          </a:xfrm>
          <a:prstGeom prst="roundRect">
            <a:avLst/>
          </a:prstGeom>
          <a:solidFill>
            <a:srgbClr val="1A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app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83664"/>
            <a:ext cx="5623560" cy="35661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49808" y="5788152"/>
            <a:ext cx="10789920" cy="38404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300" b="0">
                <a:solidFill>
                  <a:srgbClr val="F4BD6F"/>
                </a:solidFill>
                <a:latin typeface="Aptos"/>
              </a:defRPr>
            </a:pPr>
            <a:r>
              <a:t>124-day fixed interval is a conservative demonstration approximation, not a clinical decision.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5486400" cy="32004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100" b="1">
                <a:solidFill>
                  <a:srgbClr val="4EE1B0"/>
                </a:solidFill>
                <a:latin typeface="Aptos"/>
              </a:defRPr>
            </a:pPr>
            <a:r>
              <a:t>DONORINTERVAL  /  EC8204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301752"/>
            <a:ext cx="2834640" cy="32004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r">
              <a:defRPr sz="1000" b="1">
                <a:solidFill>
                  <a:srgbClr val="AAC3CD"/>
                </a:solidFill>
                <a:latin typeface="Aptos"/>
              </a:defRPr>
            </a:pPr>
            <a:r>
              <a:t>IMPLEMENTATION &amp;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6437376"/>
            <a:ext cx="10972800" cy="10972"/>
          </a:xfrm>
          <a:prstGeom prst="rect">
            <a:avLst/>
          </a:prstGeom>
          <a:solidFill>
            <a:srgbClr val="1A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6400800" cy="20116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900" b="0">
                <a:solidFill>
                  <a:srgbClr val="AAC3CD"/>
                </a:solidFill>
                <a:latin typeface="Aptos"/>
              </a:defRPr>
            </a:pPr>
            <a:r>
              <a:t>GROUP [XX]   •   EDUCATIONAL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92240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r">
              <a:defRPr sz="900" b="0">
                <a:solidFill>
                  <a:srgbClr val="AAC3CD"/>
                </a:solidFill>
                <a:latin typeface="Aptos"/>
              </a:defRPr>
            </a:pPr>
            <a:r>
              <a:t>04 /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515600" cy="56692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2800" b="1">
                <a:solidFill>
                  <a:srgbClr val="EFF9FA"/>
                </a:solidFill>
                <a:latin typeface="Aptos"/>
              </a:defRPr>
            </a:pPr>
            <a:r>
              <a:t>Tested security behavior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55648"/>
            <a:ext cx="3154680" cy="3474720"/>
          </a:xfrm>
          <a:prstGeom prst="roundRect">
            <a:avLst/>
          </a:prstGeom>
          <a:solidFill>
            <a:srgbClr val="1A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84831"/>
            <a:ext cx="2468880" cy="1078992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7200" b="1">
                <a:solidFill>
                  <a:srgbClr val="4EE1B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246120"/>
            <a:ext cx="2377440" cy="109728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2000" b="1">
                <a:solidFill>
                  <a:srgbClr val="EFF9FA"/>
                </a:solidFill>
                <a:latin typeface="Aptos"/>
              </a:defRPr>
            </a:pPr>
            <a:r>
              <a:t>automated tests passing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1783080"/>
            <a:ext cx="7360920" cy="566928"/>
          </a:xfrm>
          <a:prstGeom prst="roundRect">
            <a:avLst/>
          </a:prstGeom>
          <a:solidFill>
            <a:srgbClr val="12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892807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700" b="1">
                <a:solidFill>
                  <a:srgbClr val="4EE1B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6309360" cy="301752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600" b="0">
                <a:solidFill>
                  <a:srgbClr val="EFF9FA"/>
                </a:solidFill>
                <a:latin typeface="Aptos"/>
              </a:defRPr>
            </a:pPr>
            <a:r>
              <a:t>First donation and timestamp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505456"/>
            <a:ext cx="7360920" cy="566928"/>
          </a:xfrm>
          <a:prstGeom prst="roundRect">
            <a:avLst/>
          </a:prstGeom>
          <a:solidFill>
            <a:srgbClr val="12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4" y="2615184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700" b="1">
                <a:solidFill>
                  <a:srgbClr val="4EE1B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83480" y="2624328"/>
            <a:ext cx="6309360" cy="301752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600" b="0">
                <a:solidFill>
                  <a:srgbClr val="EFF9FA"/>
                </a:solidFill>
                <a:latin typeface="Aptos"/>
              </a:defRPr>
            </a:pPr>
            <a:r>
              <a:t>Early second donation blocked across banks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3227832"/>
            <a:ext cx="7360920" cy="566928"/>
          </a:xfrm>
          <a:prstGeom prst="roundRect">
            <a:avLst/>
          </a:prstGeom>
          <a:solidFill>
            <a:srgbClr val="12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3337560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700" b="1">
                <a:solidFill>
                  <a:srgbClr val="4EE1B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346704"/>
            <a:ext cx="6309360" cy="301752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600" b="0">
                <a:solidFill>
                  <a:srgbClr val="EFF9FA"/>
                </a:solidFill>
                <a:latin typeface="Aptos"/>
              </a:defRPr>
            </a:pPr>
            <a:r>
              <a:t>Later donation accepted after simulated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60520" y="3950208"/>
            <a:ext cx="7360920" cy="566928"/>
          </a:xfrm>
          <a:prstGeom prst="roundRect">
            <a:avLst/>
          </a:prstGeom>
          <a:solidFill>
            <a:srgbClr val="12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4" y="4059936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700" b="1">
                <a:solidFill>
                  <a:srgbClr val="4EE1B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4069080"/>
            <a:ext cx="6309360" cy="301752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600" b="0">
                <a:solidFill>
                  <a:srgbClr val="EFF9FA"/>
                </a:solidFill>
                <a:latin typeface="Aptos"/>
              </a:defRPr>
            </a:pPr>
            <a:r>
              <a:t>Unauthorized or revoked bank blocked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4672584"/>
            <a:ext cx="7360920" cy="566928"/>
          </a:xfrm>
          <a:prstGeom prst="roundRect">
            <a:avLst/>
          </a:prstGeom>
          <a:solidFill>
            <a:srgbClr val="12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43984" y="4782312"/>
            <a:ext cx="384048" cy="27432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700" b="1">
                <a:solidFill>
                  <a:srgbClr val="4EE1B0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791456"/>
            <a:ext cx="6309360" cy="301752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600" b="0">
                <a:solidFill>
                  <a:srgbClr val="EFF9FA"/>
                </a:solidFill>
                <a:latin typeface="Aptos"/>
              </a:defRPr>
            </a:pPr>
            <a:r>
              <a:t>Independent donor histories and invalid inputs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05856"/>
            <a:ext cx="10789920" cy="41148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500" b="0">
                <a:solidFill>
                  <a:srgbClr val="AAC3CD"/>
                </a:solidFill>
                <a:latin typeface="Aptos"/>
              </a:defRPr>
            </a:pPr>
            <a:r>
              <a:t>Solidity smart contract  •  Hardhat local chain  •  MetaMask + ethers web 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01752"/>
            <a:ext cx="5486400" cy="32004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100" b="1">
                <a:solidFill>
                  <a:srgbClr val="4EE1B0"/>
                </a:solidFill>
                <a:latin typeface="Aptos"/>
              </a:defRPr>
            </a:pPr>
            <a:r>
              <a:t>DONORINTERVAL  /  EC8204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78240" y="301752"/>
            <a:ext cx="2834640" cy="32004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r">
              <a:defRPr sz="1000" b="1">
                <a:solidFill>
                  <a:srgbClr val="AAC3CD"/>
                </a:solidFill>
                <a:latin typeface="Aptos"/>
              </a:defRPr>
            </a:pPr>
            <a:r>
              <a:t>SECURITY &amp; LIMITS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6437376"/>
            <a:ext cx="10972800" cy="10972"/>
          </a:xfrm>
          <a:prstGeom prst="rect">
            <a:avLst/>
          </a:prstGeom>
          <a:solidFill>
            <a:srgbClr val="1A3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6400800" cy="20116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900" b="0">
                <a:solidFill>
                  <a:srgbClr val="AAC3CD"/>
                </a:solidFill>
                <a:latin typeface="Aptos"/>
              </a:defRPr>
            </a:pPr>
            <a:r>
              <a:t>GROUP [XX]   •   EDUCATIONAL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92240"/>
            <a:ext cx="914400" cy="201168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r">
              <a:defRPr sz="900" b="0">
                <a:solidFill>
                  <a:srgbClr val="AAC3CD"/>
                </a:solidFill>
                <a:latin typeface="Aptos"/>
              </a:defRPr>
            </a:pPr>
            <a:r>
              <a:t>05 /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868680"/>
            <a:ext cx="10698480" cy="64008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2800" b="1">
                <a:solidFill>
                  <a:srgbClr val="EFF9FA"/>
                </a:solidFill>
                <a:latin typeface="Aptos"/>
              </a:defRPr>
            </a:pPr>
            <a:r>
              <a:t>What the registry proves — and what it cannot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5257800" cy="3246120"/>
          </a:xfrm>
          <a:prstGeom prst="roundRect">
            <a:avLst/>
          </a:prstGeom>
          <a:solidFill>
            <a:srgbClr val="12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057400"/>
            <a:ext cx="4480560" cy="36576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700" b="1">
                <a:solidFill>
                  <a:srgbClr val="4EE1B0"/>
                </a:solidFill>
                <a:latin typeface="Aptos"/>
              </a:defRPr>
            </a:pPr>
            <a:r>
              <a:t>PROVES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615184"/>
            <a:ext cx="4453128" cy="150876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2100" b="0">
                <a:solidFill>
                  <a:srgbClr val="EFF9FA"/>
                </a:solidFill>
                <a:latin typeface="Aptos"/>
              </a:defRPr>
            </a:pPr>
            <a:r>
              <a:t>Which authorized wallet submitted a pseudonymous record, when it was submitted, and whether the recorded interval has passed.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37360"/>
            <a:ext cx="5321808" cy="3246120"/>
          </a:xfrm>
          <a:prstGeom prst="roundRect">
            <a:avLst/>
          </a:prstGeom>
          <a:solidFill>
            <a:srgbClr val="12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2057400"/>
            <a:ext cx="4526280" cy="36576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700" b="1">
                <a:solidFill>
                  <a:srgbClr val="F4BD6F"/>
                </a:solidFill>
                <a:latin typeface="Aptos"/>
              </a:defRPr>
            </a:pPr>
            <a:r>
              <a:t>DOES NOT 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615184"/>
            <a:ext cx="4480560" cy="150876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2100" b="0">
                <a:solidFill>
                  <a:srgbClr val="EFF9FA"/>
                </a:solidFill>
                <a:latin typeface="Aptos"/>
              </a:defRPr>
            </a:pPr>
            <a:r>
              <a:t>A donor's medical eligibility, real identity, or donations outside participating banks. A disclosed code also links public records.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440680"/>
            <a:ext cx="10744200" cy="594360"/>
          </a:xfrm>
          <a:prstGeom prst="rect">
            <a:avLst/>
          </a:prstGeom>
          <a:noFill/>
        </p:spPr>
        <p:txBody>
          <a:bodyPr wrap="square" lIns="18288" rIns="18288" tIns="9144">
            <a:spAutoFit/>
          </a:bodyPr>
          <a:lstStyle/>
          <a:p>
            <a:pPr algn="l">
              <a:defRPr sz="1900" b="1">
                <a:solidFill>
                  <a:srgbClr val="4EE1B0"/>
                </a:solidFill>
                <a:latin typeface="Aptos"/>
              </a:defRPr>
            </a:pPr>
            <a:r>
              <a:t>A shared audit trail supports coordination; clinical staff retain the final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