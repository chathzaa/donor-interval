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B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83464"/>
            <a:ext cx="7772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100" b="1">
                <a:solidFill>
                  <a:srgbClr val="1B5B97"/>
                </a:solidFill>
                <a:latin typeface="Aptos"/>
              </a:defRPr>
            </a:pPr>
            <a:r>
              <a:t>EC8204  |  BLOCKCHAIN AND CYBER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6419088"/>
            <a:ext cx="10881360" cy="10972"/>
          </a:xfrm>
          <a:prstGeom prst="rect">
            <a:avLst/>
          </a:prstGeom>
          <a:solidFill>
            <a:srgbClr val="D5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73952"/>
            <a:ext cx="5486400" cy="2103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900" b="0">
                <a:solidFill>
                  <a:srgbClr val="616F7C"/>
                </a:solidFill>
                <a:latin typeface="Aptos"/>
              </a:defRPr>
            </a:pPr>
            <a:r>
              <a:t>GROUP 40  |  DONORINTERVAL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02920" cy="2103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defRPr sz="900" b="0">
                <a:solidFill>
                  <a:srgbClr val="616F7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70432"/>
            <a:ext cx="10607040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3800" b="1">
                <a:solidFill>
                  <a:srgbClr val="193048"/>
                </a:solidFill>
                <a:latin typeface="Aptos"/>
              </a:defRPr>
            </a:pPr>
            <a:r>
              <a:t>DonorInterval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75104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400" b="0">
                <a:solidFill>
                  <a:srgbClr val="1B5B97"/>
                </a:solidFill>
                <a:latin typeface="Aptos"/>
              </a:defRPr>
            </a:pPr>
            <a:r>
              <a:t>Blockchain-based blood donation interval registry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70632"/>
            <a:ext cx="10607040" cy="22860"/>
          </a:xfrm>
          <a:prstGeom prst="rect">
            <a:avLst/>
          </a:prstGeom>
          <a:solidFill>
            <a:srgbClr val="D5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36392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700" b="1">
                <a:solidFill>
                  <a:srgbClr val="193048"/>
                </a:solidFill>
                <a:latin typeface="Aptos"/>
              </a:defRPr>
            </a:pPr>
            <a: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108960"/>
            <a:ext cx="868680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100" b="0">
                <a:solidFill>
                  <a:srgbClr val="2F3A46"/>
                </a:solidFill>
                <a:latin typeface="Aptos"/>
              </a:defRPr>
            </a:pPr>
            <a:r>
              <a:t>A blood bank may not see a recent donation recorded by another participating bank.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81728"/>
            <a:ext cx="2286000" cy="34747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600" b="1">
                <a:solidFill>
                  <a:srgbClr val="193048"/>
                </a:solidFill>
                <a:latin typeface="Aptos"/>
              </a:defRPr>
            </a:pPr>
            <a:r>
              <a:t>Group 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38928"/>
            <a:ext cx="10789920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800" b="0">
                <a:solidFill>
                  <a:srgbClr val="2F3A46"/>
                </a:solidFill>
                <a:latin typeface="Aptos"/>
              </a:defRPr>
            </a:pPr>
            <a:r>
              <a:t>Member 1   |   Member 2   |   Member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881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300" b="0">
                <a:solidFill>
                  <a:srgbClr val="616F7C"/>
                </a:solidFill>
                <a:latin typeface="Aptos"/>
              </a:defRPr>
            </a:pPr>
            <a:r>
              <a:t>Source: github.com/Chathzaa/donor-interval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B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83464"/>
            <a:ext cx="7772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100" b="1">
                <a:solidFill>
                  <a:srgbClr val="1B5B97"/>
                </a:solidFill>
                <a:latin typeface="Aptos"/>
              </a:defRPr>
            </a:pPr>
            <a:r>
              <a:t>EC8204  |  BLOCKCHAIN AND CYBER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6419088"/>
            <a:ext cx="10881360" cy="10972"/>
          </a:xfrm>
          <a:prstGeom prst="rect">
            <a:avLst/>
          </a:prstGeom>
          <a:solidFill>
            <a:srgbClr val="D5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73952"/>
            <a:ext cx="5486400" cy="2103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900" b="0">
                <a:solidFill>
                  <a:srgbClr val="616F7C"/>
                </a:solidFill>
                <a:latin typeface="Aptos"/>
              </a:defRPr>
            </a:pPr>
            <a:r>
              <a:t>GROUP 40  |  DONORINTERVAL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02920" cy="2103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defRPr sz="900" b="0">
                <a:solidFill>
                  <a:srgbClr val="616F7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86384"/>
            <a:ext cx="10789920" cy="5486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900" b="1">
                <a:solidFill>
                  <a:srgbClr val="193048"/>
                </a:solidFill>
                <a:latin typeface="Aptos"/>
              </a:defRPr>
            </a:pPr>
            <a:r>
              <a:t>System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09928"/>
            <a:ext cx="3383280" cy="1737360"/>
          </a:xfrm>
          <a:prstGeom prst="rect">
            <a:avLst/>
          </a:prstGeom>
          <a:solidFill>
            <a:srgbClr val="EAF2F9"/>
          </a:solidFill>
          <a:ln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47672"/>
            <a:ext cx="29718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600" b="1">
                <a:solidFill>
                  <a:srgbClr val="1B5B97"/>
                </a:solidFill>
                <a:latin typeface="Aptos"/>
              </a:defRPr>
            </a:pPr>
            <a:r>
              <a:t>BANK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41448"/>
            <a:ext cx="2926080" cy="7863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700" b="0">
                <a:solidFill>
                  <a:srgbClr val="2F3A46"/>
                </a:solidFill>
                <a:latin typeface="Aptos"/>
              </a:defRPr>
            </a:pPr>
            <a:r>
              <a:t>Signs a transaction for a fictional donor code.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1709928"/>
            <a:ext cx="3383280" cy="1737360"/>
          </a:xfrm>
          <a:prstGeom prst="rect">
            <a:avLst/>
          </a:prstGeom>
          <a:solidFill>
            <a:srgbClr val="EAF2F9"/>
          </a:solidFill>
          <a:ln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1947672"/>
            <a:ext cx="29718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600" b="1">
                <a:solidFill>
                  <a:srgbClr val="1B5B97"/>
                </a:solidFill>
                <a:latin typeface="Aptos"/>
              </a:defRPr>
            </a:pPr>
            <a:r>
              <a:t>SMART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41448"/>
            <a:ext cx="2926080" cy="7863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700" b="0">
                <a:solidFill>
                  <a:srgbClr val="2F3A46"/>
                </a:solidFill>
                <a:latin typeface="Aptos"/>
              </a:defRPr>
            </a:pPr>
            <a:r>
              <a:t>Checks bank access and the recorded interval.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1709928"/>
            <a:ext cx="3383280" cy="1737360"/>
          </a:xfrm>
          <a:prstGeom prst="rect">
            <a:avLst/>
          </a:prstGeom>
          <a:solidFill>
            <a:srgbClr val="EAF2F9"/>
          </a:solidFill>
          <a:ln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2" y="1947672"/>
            <a:ext cx="29718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600" b="1">
                <a:solidFill>
                  <a:srgbClr val="1B5B97"/>
                </a:solidFill>
                <a:latin typeface="Aptos"/>
              </a:defRPr>
            </a:pPr>
            <a:r>
              <a:t>BANK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2441448"/>
            <a:ext cx="2926080" cy="7863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700" b="0">
                <a:solidFill>
                  <a:srgbClr val="2F3A46"/>
                </a:solidFill>
                <a:latin typeface="Aptos"/>
              </a:defRPr>
            </a:pPr>
            <a:r>
              <a:t>Reads the same history before submitting a record.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2313432"/>
            <a:ext cx="329184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900" b="1">
                <a:solidFill>
                  <a:srgbClr val="1B5B9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2313432"/>
            <a:ext cx="329184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900" b="1">
                <a:solidFill>
                  <a:srgbClr val="1B5B97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95928"/>
            <a:ext cx="1088136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4206240"/>
            <a:ext cx="1920240" cy="34747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600" b="1">
                <a:solidFill>
                  <a:srgbClr val="193048"/>
                </a:solidFill>
                <a:latin typeface="Aptos"/>
              </a:defRPr>
            </a:pPr>
            <a:r>
              <a:t>Contract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2928" y="4178808"/>
            <a:ext cx="832104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900" b="0">
                <a:solidFill>
                  <a:srgbClr val="2F3A46"/>
                </a:solidFill>
                <a:latin typeface="Aptos"/>
              </a:defRPr>
            </a:pPr>
            <a:r>
              <a:t>A second record for the same code is rejected within 124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724144"/>
            <a:ext cx="10789920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400" b="0">
                <a:solidFill>
                  <a:srgbClr val="616F7C"/>
                </a:solidFill>
                <a:latin typeface="Aptos"/>
              </a:defRPr>
            </a:pPr>
            <a:r>
              <a:t>The code is hashed before submission. Identity and medical data stay off-chain.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6117336"/>
            <a:ext cx="10789920" cy="2286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000" b="0">
                <a:solidFill>
                  <a:srgbClr val="616F7C"/>
                </a:solidFill>
                <a:latin typeface="Aptos"/>
              </a:defRPr>
            </a:pPr>
            <a:r>
              <a:t>Interval reference: Sri Lanka National Blood Transfusion Service (nbts.health.gov.lk)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B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83464"/>
            <a:ext cx="7772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100" b="1">
                <a:solidFill>
                  <a:srgbClr val="1B5B97"/>
                </a:solidFill>
                <a:latin typeface="Aptos"/>
              </a:defRPr>
            </a:pPr>
            <a:r>
              <a:t>EC8204  |  BLOCKCHAIN AND CYBER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6419088"/>
            <a:ext cx="10881360" cy="10972"/>
          </a:xfrm>
          <a:prstGeom prst="rect">
            <a:avLst/>
          </a:prstGeom>
          <a:solidFill>
            <a:srgbClr val="D5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73952"/>
            <a:ext cx="5486400" cy="2103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900" b="0">
                <a:solidFill>
                  <a:srgbClr val="616F7C"/>
                </a:solidFill>
                <a:latin typeface="Aptos"/>
              </a:defRPr>
            </a:pPr>
            <a:r>
              <a:t>GROUP 40  |  DONORINTERVAL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02920" cy="2103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defRPr sz="900" b="0">
                <a:solidFill>
                  <a:srgbClr val="616F7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86384"/>
            <a:ext cx="10789920" cy="5486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900" b="1">
                <a:solidFill>
                  <a:srgbClr val="193048"/>
                </a:solidFill>
                <a:latin typeface="Aptos"/>
              </a:defRPr>
            </a:pPr>
            <a:r>
              <a:t>Results and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64208"/>
            <a:ext cx="5257800" cy="3950208"/>
          </a:xfrm>
          <a:prstGeom prst="rect">
            <a:avLst/>
          </a:prstGeom>
          <a:solidFill>
            <a:srgbClr val="EAF2F9"/>
          </a:solidFill>
          <a:ln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01952"/>
            <a:ext cx="47091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400" b="1">
                <a:solidFill>
                  <a:srgbClr val="1B5B97"/>
                </a:solidFill>
                <a:latin typeface="Aptos"/>
              </a:defRPr>
            </a:pPr>
            <a:r>
              <a:t>8 passing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660904"/>
            <a:ext cx="4709160" cy="2560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800" b="0">
                <a:solidFill>
                  <a:srgbClr val="2F3A46"/>
                </a:solidFill>
                <a:latin typeface="Aptos"/>
              </a:defRPr>
            </a:pPr>
            <a:r>
              <a:t>• First donation recorded with a timestamp</a:t>
            </a:r>
            <a:br/>
            <a:r>
              <a:t>• Early second record blocked across banks</a:t>
            </a:r>
            <a:br/>
            <a:r>
              <a:t>• Unauthorized or revoked bank blocked</a:t>
            </a:r>
            <a:br/>
            <a:r>
              <a:t>• Later record accepted after simulated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64208"/>
            <a:ext cx="5303520" cy="3950208"/>
          </a:xfrm>
          <a:prstGeom prst="rect">
            <a:avLst/>
          </a:prstGeom>
          <a:solidFill>
            <a:srgbClr val="FFFFFF"/>
          </a:solidFill>
          <a:ln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01952"/>
            <a:ext cx="466344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2200" b="1">
                <a:solidFill>
                  <a:srgbClr val="193048"/>
                </a:solidFill>
                <a:latin typeface="Aptos"/>
              </a:defRPr>
            </a:pPr>
            <a:r>
              <a:t>Important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70048"/>
            <a:ext cx="4663440" cy="2286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800" b="0">
                <a:solidFill>
                  <a:srgbClr val="2F3A46"/>
                </a:solidFill>
                <a:latin typeface="Aptos"/>
              </a:defRPr>
            </a:pPr>
            <a:r>
              <a:t>• Only records on this contract are checked.</a:t>
            </a:r>
            <a:br/>
            <a:r>
              <a:t>• A known code can link public records.</a:t>
            </a:r>
            <a:br/>
            <a:r>
              <a:t>• Clinical staff decide donor eligibility.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870448"/>
            <a:ext cx="108813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defRPr sz="1300" b="0">
                <a:solidFill>
                  <a:srgbClr val="995D16"/>
                </a:solidFill>
                <a:latin typeface="Aptos"/>
              </a:defRPr>
            </a:pPr>
            <a:r>
              <a:t>The 124-day rule is a fixed demonstration approximation, not a clinical decision.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