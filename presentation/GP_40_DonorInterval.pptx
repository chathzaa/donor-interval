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00" b="1">
                <a:solidFill>
                  <a:srgbClr val="1C5484"/>
                </a:solidFill>
                <a:latin typeface="Segoe UI"/>
              </a:defRPr>
            </a:pPr>
            <a:r>
              <a:t>EC8204  /  BLOCKCHAIN AND CYBER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20040"/>
            <a:ext cx="210312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667684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36792"/>
            <a:ext cx="10835640" cy="13716"/>
          </a:xfrm>
          <a:prstGeom prst="rect">
            <a:avLst/>
          </a:prstGeom>
          <a:solidFill>
            <a:srgbClr val="D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6437376"/>
            <a:ext cx="53035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00" b="0">
                <a:solidFill>
                  <a:srgbClr val="667684"/>
                </a:solidFill>
                <a:latin typeface="Segoe UI"/>
              </a:defRPr>
            </a:pPr>
            <a:r>
              <a:t>GROUP 40 · DONORINTERVAL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7315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0">
                <a:solidFill>
                  <a:srgbClr val="667684"/>
                </a:solidFill>
                <a:latin typeface="Segoe UI"/>
              </a:defRPr>
            </a:pPr>
            <a:r>
              <a:t>01 /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6675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4400" b="1">
                <a:solidFill>
                  <a:srgbClr val="163045"/>
                </a:solidFill>
                <a:latin typeface="Segoe UI"/>
              </a:defRPr>
            </a:pPr>
            <a:r>
              <a:t>DonorInterval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75104"/>
            <a:ext cx="6766560" cy="4297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400" b="0">
                <a:solidFill>
                  <a:srgbClr val="1C5484"/>
                </a:solidFill>
                <a:latin typeface="Segoe UI"/>
              </a:defRPr>
            </a:pPr>
            <a:r>
              <a:t>Blood donation interval registry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761488"/>
            <a:ext cx="731520" cy="41148"/>
          </a:xfrm>
          <a:prstGeom prst="rect">
            <a:avLst/>
          </a:prstGeom>
          <a:solidFill>
            <a:srgbClr val="15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118104"/>
            <a:ext cx="6400800" cy="10241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200" b="0">
                <a:solidFill>
                  <a:srgbClr val="2A3A48"/>
                </a:solidFill>
                <a:latin typeface="Segoe UI"/>
              </a:defRPr>
            </a:pPr>
            <a:r>
              <a:t>A shared record of donation timing for participating blood banks.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809744"/>
            <a:ext cx="2011680" cy="3017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400" b="1">
                <a:solidFill>
                  <a:srgbClr val="157E74"/>
                </a:solidFill>
                <a:latin typeface="Segoe UI"/>
              </a:defRPr>
            </a:pPr>
            <a:r>
              <a:t>GROUP 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230368"/>
            <a:ext cx="69494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00" b="0">
                <a:solidFill>
                  <a:srgbClr val="163045"/>
                </a:solidFill>
                <a:latin typeface="Segoe UI"/>
              </a:defRPr>
            </a:pPr>
            <a:r>
              <a:t>Member 1   |   Member 2   |   Member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1069848"/>
            <a:ext cx="3520440" cy="45537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481328"/>
            <a:ext cx="2880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500" b="1">
                <a:solidFill>
                  <a:srgbClr val="1C5484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5" y="2029968"/>
            <a:ext cx="438912" cy="32004"/>
          </a:xfrm>
          <a:prstGeom prst="rect">
            <a:avLst/>
          </a:prstGeom>
          <a:solidFill>
            <a:srgbClr val="15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2331720"/>
            <a:ext cx="2743200" cy="2240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100" b="0">
                <a:solidFill>
                  <a:srgbClr val="163045"/>
                </a:solidFill>
                <a:latin typeface="Segoe UI"/>
              </a:defRPr>
            </a:pPr>
            <a:r>
              <a:t>A recent donation may be visible at one bank but absent from another bank's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916168"/>
            <a:ext cx="98755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100" b="0">
                <a:solidFill>
                  <a:srgbClr val="667684"/>
                </a:solidFill>
                <a:latin typeface="Segoe UI"/>
              </a:defRPr>
            </a:pPr>
            <a:r>
              <a:t>Source code: github.com/Chathzaa/donor-interval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00" b="1">
                <a:solidFill>
                  <a:srgbClr val="1C5484"/>
                </a:solidFill>
                <a:latin typeface="Segoe UI"/>
              </a:defRPr>
            </a:pPr>
            <a:r>
              <a:t>EC8204  /  BLOCKCHAIN AND CYBER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20040"/>
            <a:ext cx="210312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667684"/>
                </a:solidFill>
                <a:latin typeface="Segoe UI"/>
              </a:defRPr>
            </a:pPr>
            <a:r>
              <a:t>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36792"/>
            <a:ext cx="10835640" cy="13716"/>
          </a:xfrm>
          <a:prstGeom prst="rect">
            <a:avLst/>
          </a:prstGeom>
          <a:solidFill>
            <a:srgbClr val="D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6437376"/>
            <a:ext cx="53035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00" b="0">
                <a:solidFill>
                  <a:srgbClr val="667684"/>
                </a:solidFill>
                <a:latin typeface="Segoe UI"/>
              </a:defRPr>
            </a:pPr>
            <a:r>
              <a:t>GROUP 40 · DONORINTERVAL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7315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0">
                <a:solidFill>
                  <a:srgbClr val="667684"/>
                </a:solidFill>
                <a:latin typeface="Segoe UI"/>
              </a:defRPr>
            </a:pPr>
            <a:r>
              <a:t>02 /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905256"/>
            <a:ext cx="106984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900" b="1">
                <a:solidFill>
                  <a:srgbClr val="163045"/>
                </a:solidFill>
                <a:latin typeface="Segoe UI"/>
              </a:defRPr>
            </a:pPr>
            <a:r>
              <a:t>One record, visible to both banks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53896"/>
            <a:ext cx="106984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00" b="0">
                <a:solidFill>
                  <a:srgbClr val="667684"/>
                </a:solidFill>
                <a:latin typeface="Segoe UI"/>
              </a:defRPr>
            </a:pPr>
            <a:r>
              <a:t>The rule is checked by the smart contract, not by a single bank's interface.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212848"/>
            <a:ext cx="32461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7" y="2450592"/>
            <a:ext cx="502920" cy="502920"/>
          </a:xfrm>
          <a:prstGeom prst="ellipse">
            <a:avLst/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587752"/>
            <a:ext cx="420624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100" b="1">
                <a:solidFill>
                  <a:srgbClr val="157E74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514600"/>
            <a:ext cx="21488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00" b="1">
                <a:solidFill>
                  <a:srgbClr val="1C5484"/>
                </a:solidFill>
                <a:latin typeface="Segoe UI"/>
              </a:defRPr>
            </a:pPr>
            <a:r>
              <a:t>BANK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9816"/>
            <a:ext cx="2724912" cy="8321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800" b="0">
                <a:solidFill>
                  <a:srgbClr val="2A3A48"/>
                </a:solidFill>
                <a:latin typeface="Segoe UI"/>
              </a:defRPr>
            </a:pPr>
            <a:r>
              <a:t>Signs the first donation record in MetaMask.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2212848"/>
            <a:ext cx="32461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2450592"/>
            <a:ext cx="502920" cy="502920"/>
          </a:xfrm>
          <a:prstGeom prst="ellipse">
            <a:avLst/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9744" y="2587752"/>
            <a:ext cx="420624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100" b="1">
                <a:solidFill>
                  <a:srgbClr val="157E7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514600"/>
            <a:ext cx="21488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00" b="1">
                <a:solidFill>
                  <a:srgbClr val="1C5484"/>
                </a:solidFill>
                <a:latin typeface="Segoe UI"/>
              </a:defRPr>
            </a:pPr>
            <a:r>
              <a:t>SMART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099816"/>
            <a:ext cx="2724912" cy="8321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800" b="0">
                <a:solidFill>
                  <a:srgbClr val="2A3A48"/>
                </a:solidFill>
                <a:latin typeface="Segoe UI"/>
              </a:defRPr>
            </a:pPr>
            <a:r>
              <a:t>Stores a timestamp and checks the interval.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9328" y="2212848"/>
            <a:ext cx="32461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67928" y="2450592"/>
            <a:ext cx="502920" cy="502920"/>
          </a:xfrm>
          <a:prstGeom prst="ellipse">
            <a:avLst/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04504" y="2587752"/>
            <a:ext cx="420624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100" b="1">
                <a:solidFill>
                  <a:srgbClr val="157E74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514600"/>
            <a:ext cx="214884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600" b="1">
                <a:solidFill>
                  <a:srgbClr val="1C5484"/>
                </a:solidFill>
                <a:latin typeface="Segoe UI"/>
              </a:defRPr>
            </a:pPr>
            <a:r>
              <a:t>BANK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099816"/>
            <a:ext cx="2724912" cy="8321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800" b="0">
                <a:solidFill>
                  <a:srgbClr val="2A3A48"/>
                </a:solidFill>
                <a:latin typeface="Segoe UI"/>
              </a:defRPr>
            </a:pPr>
            <a:r>
              <a:t>Reads that record before another submission.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2880360"/>
            <a:ext cx="3200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700" b="1">
                <a:solidFill>
                  <a:srgbClr val="157E7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2983" y="2880360"/>
            <a:ext cx="3200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700" b="1">
                <a:solidFill>
                  <a:srgbClr val="157E7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4590288"/>
            <a:ext cx="10835640" cy="1014984"/>
          </a:xfrm>
          <a:prstGeom prst="rect">
            <a:avLst/>
          </a:prstGeom>
          <a:solidFill>
            <a:srgbClr val="16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828032"/>
            <a:ext cx="2103120" cy="4937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Segoe UI"/>
              </a:defRPr>
            </a:pPr>
            <a:r>
              <a:t>124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4864608"/>
            <a:ext cx="7955279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Fixed interval before another record for the same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5870448"/>
            <a:ext cx="106527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00" b="0">
                <a:solidFill>
                  <a:srgbClr val="667684"/>
                </a:solidFill>
                <a:latin typeface="Segoe UI"/>
              </a:defRPr>
            </a:pPr>
            <a:r>
              <a:t>Only a hash of the random code is submitted. Names and medical details remain off-chain.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731520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00" b="1">
                <a:solidFill>
                  <a:srgbClr val="1C5484"/>
                </a:solidFill>
                <a:latin typeface="Segoe UI"/>
              </a:defRPr>
            </a:pPr>
            <a:r>
              <a:t>EC8204  /  BLOCKCHAIN AND CYBER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20040"/>
            <a:ext cx="2103120" cy="2468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1000" b="1">
                <a:solidFill>
                  <a:srgbClr val="667684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36792"/>
            <a:ext cx="10835640" cy="13716"/>
          </a:xfrm>
          <a:prstGeom prst="rect">
            <a:avLst/>
          </a:prstGeom>
          <a:solidFill>
            <a:srgbClr val="D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6437376"/>
            <a:ext cx="53035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900" b="0">
                <a:solidFill>
                  <a:srgbClr val="667684"/>
                </a:solidFill>
                <a:latin typeface="Segoe UI"/>
              </a:defRPr>
            </a:pPr>
            <a:r>
              <a:t>GROUP 40 · DONORINTERVAL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37376"/>
            <a:ext cx="7315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0">
                <a:solidFill>
                  <a:srgbClr val="667684"/>
                </a:solidFill>
                <a:latin typeface="Segoe UI"/>
              </a:defRPr>
            </a:pPr>
            <a:r>
              <a:t>03 /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896112"/>
            <a:ext cx="1069848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900" b="1">
                <a:solidFill>
                  <a:srgbClr val="163045"/>
                </a:solidFill>
                <a:latin typeface="Segoe UI"/>
              </a:defRPr>
            </a:pPr>
            <a:r>
              <a:t>What the prototype demonstrates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91640"/>
            <a:ext cx="4160520" cy="4050791"/>
          </a:xfrm>
          <a:prstGeom prst="rect">
            <a:avLst/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002536"/>
            <a:ext cx="361188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4700" b="1">
                <a:solidFill>
                  <a:srgbClr val="157E74"/>
                </a:solidFill>
                <a:latin typeface="Segoe UI"/>
              </a:defRPr>
            </a:pPr>
            <a:r>
              <a:t>8 /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889504"/>
            <a:ext cx="3547872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800" b="1">
                <a:solidFill>
                  <a:srgbClr val="163045"/>
                </a:solidFill>
                <a:latin typeface="Segoe UI"/>
              </a:defRPr>
            </a:pPr>
            <a:r>
              <a:t>contract tests passing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0704" y="3520440"/>
            <a:ext cx="3401568" cy="14630"/>
          </a:xfrm>
          <a:prstGeom prst="rect">
            <a:avLst/>
          </a:prstGeom>
          <a:solidFill>
            <a:srgbClr val="D7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813048"/>
            <a:ext cx="3502152" cy="1508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700" b="0">
                <a:solidFill>
                  <a:srgbClr val="2A3A48"/>
                </a:solidFill>
                <a:latin typeface="Segoe UI"/>
              </a:defRPr>
            </a:pPr>
            <a:r>
              <a:t>First record accepted</a:t>
            </a:r>
            <a:br/>
            <a:r>
              <a:t>Early second record rejected</a:t>
            </a:r>
            <a:br/>
            <a:r>
              <a:t>Bank authorization enforced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75504" y="1691640"/>
            <a:ext cx="6409944" cy="4050791"/>
          </a:xfrm>
          <a:prstGeom prst="rect">
            <a:avLst/>
          </a:prstGeom>
          <a:solidFill>
            <a:srgbClr val="FFFFFF"/>
          </a:solidFill>
          <a:ln>
            <a:solidFill>
              <a:srgbClr val="D7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993392"/>
            <a:ext cx="5724144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100" b="1">
                <a:solidFill>
                  <a:srgbClr val="1C5484"/>
                </a:solidFill>
                <a:latin typeface="Segoe UI"/>
              </a:defRPr>
            </a:pPr>
            <a:r>
              <a:t>Scope and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2697480"/>
            <a:ext cx="557784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800" b="0">
                <a:solidFill>
                  <a:srgbClr val="2A3A48"/>
                </a:solidFill>
                <a:latin typeface="Segoe UI"/>
              </a:defRPr>
            </a:pPr>
            <a:r>
              <a:t>This checks records on this contract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3383280"/>
            <a:ext cx="557784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800" b="0">
                <a:solidFill>
                  <a:srgbClr val="2A3A48"/>
                </a:solidFill>
                <a:latin typeface="Segoe UI"/>
              </a:defRPr>
            </a:pPr>
            <a:r>
              <a:t>A disclosed code can link public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4069080"/>
            <a:ext cx="557784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800" b="0">
                <a:solidFill>
                  <a:srgbClr val="2A3A48"/>
                </a:solidFill>
                <a:latin typeface="Segoe UI"/>
              </a:defRPr>
            </a:pPr>
            <a:r>
              <a:t>Clinical staff still decide donor eligibility.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95544" y="4828032"/>
            <a:ext cx="5458968" cy="27432"/>
          </a:xfrm>
          <a:prstGeom prst="rect">
            <a:avLst/>
          </a:prstGeom>
          <a:solidFill>
            <a:srgbClr val="15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4688" y="5038344"/>
            <a:ext cx="5577840" cy="4023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300" b="0">
                <a:solidFill>
                  <a:srgbClr val="97601E"/>
                </a:solidFill>
                <a:latin typeface="Segoe UI"/>
              </a:defRPr>
            </a:pPr>
            <a:r>
              <a:t>The 124-day rule is a fixed demonstration approximation.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961888"/>
            <a:ext cx="1069848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000" b="0">
                <a:solidFill>
                  <a:srgbClr val="667684"/>
                </a:solidFill>
                <a:latin typeface="Segoe UI"/>
              </a:defRPr>
            </a:pPr>
            <a:r>
              <a:t>Interval reference: Sri Lanka National Blood Transfusion Service · nbts.health.gov.lk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